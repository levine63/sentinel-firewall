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Sentinel Firewall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Safe-product substitution as a high-return lead exposure intervention</a:t>
            </a:r>
            <a:br/>
            <a:br/>
            <a:r>
              <a:rPr/>
              <a:t>David I. Levine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talk for economists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Talk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Lead exposure: why economists should care</a:t>
            </a:r>
          </a:p>
          <a:p>
            <a:pPr lvl="0"/>
            <a:r>
              <a:rPr/>
              <a:t>Why informal consumer products create a policy problem</a:t>
            </a:r>
          </a:p>
          <a:p>
            <a:pPr lvl="0"/>
            <a:r>
              <a:rPr/>
              <a:t>The Sentinel Firewall idea</a:t>
            </a:r>
          </a:p>
          <a:p>
            <a:pPr lvl="0"/>
            <a:r>
              <a:rPr/>
              <a:t>Economic model and main assumptions</a:t>
            </a:r>
          </a:p>
          <a:p>
            <a:pPr lvl="0"/>
            <a:r>
              <a:rPr/>
              <a:t>Results and uncertainty</a:t>
            </a:r>
          </a:p>
          <a:p>
            <a:pPr lvl="0"/>
            <a:r>
              <a:rPr/>
              <a:t>What the tool lets ministries, NGOs and researchers do locally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Lead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Lead is a neurotoxin with no known safe threshold for children.</a:t>
            </a:r>
          </a:p>
          <a:p>
            <a:pPr lvl="0"/>
            <a:r>
              <a:rPr/>
              <a:t>The biggest losses are often invisible: cognition, learning, behaviour, adult productivity.</a:t>
            </a:r>
          </a:p>
          <a:p>
            <a:pPr lvl="0"/>
            <a:r>
              <a:rPr/>
              <a:t>Adult cardiovascular disease is also important, but this talk focuses mainly on child cognition and earnings.</a:t>
            </a:r>
          </a:p>
          <a:p>
            <a:pPr lvl="0"/>
            <a:r>
              <a:rPr/>
              <a:t>Exposure during pregnancy and early childhood is especially damaging because the brain is developing rapidly.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Post-Gasoline Lead Problem</a:t>
            </a:r>
          </a:p>
        </p:txBody>
      </p:sp>
      <p:pic>
        <p:nvPicPr>
          <p:cNvPr descr="images/lead_sources_mont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Common informal lead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Rich countries largely reduced lead through gasoline, paint and formal-sector regulation.</a:t>
            </a:r>
          </a:p>
          <a:p>
            <a:pPr lvl="0"/>
            <a:r>
              <a:rPr/>
              <a:t>Many LMIC exposures now come from harder-to-regulate sources:</a:t>
            </a:r>
          </a:p>
          <a:p>
            <a:pPr lvl="0"/>
            <a:r>
              <a:rPr/>
              <a:t>artisanal aluminium cookware made from mixed scrap</a:t>
            </a:r>
          </a:p>
          <a:p>
            <a:pPr lvl="0"/>
            <a:r>
              <a:rPr/>
              <a:t>traditional cosmetics such as kohl, kajal or surma</a:t>
            </a:r>
          </a:p>
          <a:p>
            <a:pPr lvl="0"/>
            <a:r>
              <a:rPr/>
              <a:t>lead-contaminated ceramics, cups, bowls and utensils</a:t>
            </a:r>
          </a:p>
          <a:p>
            <a:pPr lvl="0"/>
            <a:r>
              <a:rPr/>
              <a:t>These products are ordinary household goods, not obvious “industrial pollution” to consumers.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Is an Economics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Households often cannot observe lead content or delayed cognitive harm.</a:t>
            </a:r>
          </a:p>
          <a:p>
            <a:pPr lvl="0"/>
            <a:r>
              <a:rPr/>
              <a:t>Informal producers may not internalise downstream health and productivity losses.</a:t>
            </a:r>
          </a:p>
          <a:p>
            <a:pPr lvl="0"/>
            <a:r>
              <a:rPr/>
              <a:t>Regulators may not know which products or supply chains are dangerous.</a:t>
            </a:r>
          </a:p>
          <a:p>
            <a:pPr lvl="0"/>
            <a:r>
              <a:rPr/>
              <a:t>The key market failure is not only pollution; it is hidden product quality plus delayed human-capital damage.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Policy Gap</a:t>
            </a:r>
          </a:p>
        </p:txBody>
      </p:sp>
      <p:pic>
        <p:nvPicPr>
          <p:cNvPr descr="images/unsafe_to_safe_p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Unsafe recycled pot replaced by lead-safe stainless steel pot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First-best policy: remove lead from products and supply chains.</a:t>
            </a:r>
          </a:p>
          <a:p>
            <a:pPr lvl="0"/>
            <a:r>
              <a:rPr/>
              <a:t>But enforcement and industrial upgrading can be slow.</a:t>
            </a:r>
          </a:p>
          <a:p>
            <a:pPr lvl="0"/>
            <a:r>
              <a:rPr/>
              <a:t>Pregnant women and infants are exposed now.</a:t>
            </a:r>
          </a:p>
          <a:p>
            <a:pPr lvl="0"/>
            <a:r>
              <a:rPr/>
              <a:t>Question: can health systems create a temporary consumer firewall while regulation catches up?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Sentinel Firewall</a:t>
            </a:r>
          </a:p>
        </p:txBody>
      </p:sp>
      <p:pic>
        <p:nvPicPr>
          <p:cNvPr descr="images/mch_contact_poin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Maternal and child health contact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sentinel screening to identify high-risk districts or catchments.</a:t>
            </a:r>
          </a:p>
          <a:p>
            <a:pPr lvl="0"/>
            <a:r>
              <a:rPr/>
              <a:t>Deploy modular safe-product packages through existing maternal and child health contacts.</a:t>
            </a:r>
          </a:p>
          <a:p>
            <a:pPr lvl="0"/>
            <a:r>
              <a:rPr/>
              <a:t>Use uptake, surrendered products and biomonitoring to inform enforcement.</a:t>
            </a:r>
          </a:p>
          <a:p>
            <a:pPr lvl="0"/>
            <a:r>
              <a:rPr/>
              <a:t>This is harm reduction, not a substitute for eliminating lead from production.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Modelled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Kitchen Package:</a:t>
            </a:r>
          </a:p>
          <a:p>
            <a:pPr lvl="0"/>
            <a:r>
              <a:rPr/>
              <a:t>ANC voucher for a lead-safe cooking pot</a:t>
            </a:r>
          </a:p>
          <a:p>
            <a:pPr lvl="0"/>
            <a:r>
              <a:rPr/>
              <a:t>ANC calcium supplements</a:t>
            </a:r>
          </a:p>
          <a:p>
            <a:pPr lvl="0"/>
            <a:r>
              <a:rPr/>
              <a:t>safe child feeding utensils at immunisation</a:t>
            </a:r>
          </a:p>
          <a:p>
            <a:pPr lvl="0"/>
            <a:r>
              <a:rPr/>
              <a:t>Kohl Package:</a:t>
            </a:r>
          </a:p>
          <a:p>
            <a:pPr lvl="0"/>
            <a:r>
              <a:rPr/>
              <a:t>safe maternal kohl through ANC</a:t>
            </a:r>
          </a:p>
          <a:p>
            <a:pPr lvl="0"/>
            <a:r>
              <a:rPr/>
              <a:t>safe infant kohl through facility delivery or early-immunisation catch-up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Pathway For The Kitchen Package</a:t>
            </a:r>
          </a:p>
        </p:txBody>
      </p:sp>
      <p:pic>
        <p:nvPicPr>
          <p:cNvPr descr="../figures_main/figure_1_kitchen_cognition_pathwa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31900"/>
            <a:ext cx="8229600" cy="279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Kitchen package cognition pathway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Economic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Unit: mother-child pair in a targeted high-risk setting.</a:t>
            </a:r>
          </a:p>
          <a:p>
            <a:pPr lvl="0"/>
            <a:r>
              <a:rPr/>
              <a:t>Costs: product costs, counselling, distribution, programme overhead and fixed screening cost per birth.</a:t>
            </a:r>
          </a:p>
          <a:p>
            <a:pPr lvl="0"/>
            <a:r>
              <a:rPr/>
              <a:t>Benefits: child IQ gains mapped to lifetime earnings; maternal/neonatal and adult CVD benefits are secondary extensions.</a:t>
            </a:r>
          </a:p>
          <a:p>
            <a:pPr lvl="0"/>
            <a:r>
              <a:rPr/>
              <a:t>Main output: benefit-cost ratio.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Earnings 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Present value of lifetime earnings:</a:t>
            </a:r>
          </a:p>
          <a:p>
            <a:pPr lvl="0"/>
            <a:r>
              <a:rPr/>
              <a:t>productivity = GDP PPP per capita x labour share of national income</a:t>
            </a:r>
          </a:p>
          <a:p>
            <a:pPr lvl="0"/>
            <a:r>
              <a:rPr/>
              <a:t>year-by-year survival from birth to adulthood and through working life</a:t>
            </a:r>
          </a:p>
          <a:p>
            <a:pPr lvl="0"/>
            <a:r>
              <a:rPr/>
              <a:t>real growth and social discounting</a:t>
            </a:r>
          </a:p>
          <a:p>
            <a:pPr lvl="0"/>
            <a:r>
              <a:rPr/>
              <a:t>Lead channel:</a:t>
            </a:r>
          </a:p>
          <a:p>
            <a:pPr lvl="0"/>
            <a:r>
              <a:rPr/>
              <a:t>lower BLL -&gt; IQ gain -&gt; higher lifetime earnings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Model Is Conservative In Spirit</a:t>
            </a:r>
          </a:p>
        </p:txBody>
      </p:sp>
      <p:pic>
        <p:nvPicPr>
          <p:cNvPr descr="images/voucher_chai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Voucher implementation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 does not assume every targeted household benefits.</a:t>
            </a:r>
          </a:p>
          <a:p>
            <a:pPr lvl="0"/>
            <a:r>
              <a:rPr/>
              <a:t>Benefits are attenuated by:</a:t>
            </a:r>
          </a:p>
          <a:p>
            <a:pPr lvl="0"/>
            <a:r>
              <a:rPr/>
              <a:t>hazardous product prevalence</a:t>
            </a:r>
          </a:p>
          <a:p>
            <a:pPr lvl="0"/>
            <a:r>
              <a:rPr/>
              <a:t>ANC, delivery or immunisation contact</a:t>
            </a:r>
          </a:p>
          <a:p>
            <a:pPr lvl="0"/>
            <a:r>
              <a:rPr/>
              <a:t>health-system fidelity</a:t>
            </a:r>
          </a:p>
          <a:p>
            <a:pPr lvl="0"/>
            <a:r>
              <a:rPr/>
              <a:t>voucher issuance, merchant stock and redemption for pots</a:t>
            </a:r>
          </a:p>
          <a:p>
            <a:pPr lvl="0"/>
            <a:r>
              <a:rPr/>
              <a:t>caregiver adherence and residual unsafe use</a:t>
            </a:r>
          </a:p>
          <a:p>
            <a:pPr lvl="0"/>
            <a:r>
              <a:rPr/>
              <a:t>developmental timing: a one-year intervention does not equal lifelong exposure removal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Results</a:t>
            </a:r>
          </a:p>
        </p:txBody>
      </p:sp>
      <p:pic>
        <p:nvPicPr>
          <p:cNvPr descr="../figures_main/figure_2_bcr_distribu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4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BCR distributions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Magnitudes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Kitchen Package cognition BCR:</a:t>
            </a:r>
          </a:p>
          <a:p>
            <a:pPr lvl="0"/>
            <a:r>
              <a:rPr/>
              <a:t>median 5.59</a:t>
            </a:r>
          </a:p>
          <a:p>
            <a:pPr lvl="0"/>
            <a:r>
              <a:rPr/>
              <a:t>5th-95th percentile range 1.99 to 14.92</a:t>
            </a:r>
          </a:p>
          <a:p>
            <a:pPr lvl="0"/>
            <a:r>
              <a:rPr/>
              <a:t>0.32% of simulations below parity</a:t>
            </a:r>
          </a:p>
          <a:p>
            <a:pPr lvl="0"/>
            <a:r>
              <a:rPr/>
              <a:t>Kohl Package cognition BCR:</a:t>
            </a:r>
          </a:p>
          <a:p>
            <a:pPr lvl="0"/>
            <a:r>
              <a:rPr/>
              <a:t>median 4.64</a:t>
            </a:r>
          </a:p>
          <a:p>
            <a:pPr lvl="0"/>
            <a:r>
              <a:rPr/>
              <a:t>5th-95th percentile range 1.45 to 13.93</a:t>
            </a:r>
          </a:p>
          <a:p>
            <a:pPr lvl="0"/>
            <a:r>
              <a:rPr/>
              <a:t>1.45% below parity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Interpretation For Economists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These are not universal LMIC estimates.</a:t>
            </a:r>
          </a:p>
          <a:p>
            <a:pPr lvl="0"/>
            <a:r>
              <a:rPr/>
              <a:t>They are a demonstration using plausible LMIC values in settings where the hazardous product is common.</a:t>
            </a:r>
          </a:p>
          <a:p>
            <a:pPr lvl="0"/>
            <a:r>
              <a:rPr/>
              <a:t>The high returns come from a large human-capital externality relative to low substitution costs.</a:t>
            </a:r>
          </a:p>
          <a:p>
            <a:pPr lvl="0"/>
            <a:r>
              <a:rPr/>
              <a:t>The uncertainty is real, but much of it is measurable in pilots.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Drives The Results?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Product-specific BLL reduction: does the product really matter locally?</a:t>
            </a:r>
          </a:p>
          <a:p>
            <a:pPr lvl="0"/>
            <a:r>
              <a:rPr/>
              <a:t>Prevalence: are we targeting a true hotspot?</a:t>
            </a:r>
          </a:p>
          <a:p>
            <a:pPr lvl="0"/>
            <a:r>
              <a:rPr/>
              <a:t>Implementation: does the health system deliver and do households use the safe good?</a:t>
            </a:r>
          </a:p>
          <a:p>
            <a:pPr lvl="0"/>
            <a:r>
              <a:rPr/>
              <a:t>BLL-to-IQ and IQ-to-earnings parameters</a:t>
            </a:r>
          </a:p>
          <a:p>
            <a:pPr lvl="0"/>
            <a:r>
              <a:rPr/>
              <a:t>Discounting and local productivity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 Adaptation Tool</a:t>
            </a:r>
          </a:p>
        </p:txBody>
      </p:sp>
      <p:pic>
        <p:nvPicPr>
          <p:cNvPr descr="images/local_adaptation_too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68500" y="1193800"/>
            <a:ext cx="5219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Local adaptation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Python model runs the full probabilistic sensitivity analysis.</a:t>
            </a:r>
          </a:p>
          <a:p>
            <a:pPr lvl="0"/>
            <a:r>
              <a:rPr/>
              <a:t>The Excel/Google Sheets version is a deterministic mode-only tool.</a:t>
            </a:r>
          </a:p>
          <a:p>
            <a:pPr lvl="0"/>
            <a:r>
              <a:rPr/>
              <a:t>Local users can change:</a:t>
            </a:r>
          </a:p>
          <a:p>
            <a:pPr lvl="0"/>
            <a:r>
              <a:rPr/>
              <a:t>product prevalence</a:t>
            </a:r>
          </a:p>
          <a:p>
            <a:pPr lvl="0"/>
            <a:r>
              <a:rPr/>
              <a:t>product prices</a:t>
            </a:r>
          </a:p>
          <a:p>
            <a:pPr lvl="0"/>
            <a:r>
              <a:rPr/>
              <a:t>attendance and fidelity</a:t>
            </a:r>
          </a:p>
          <a:p>
            <a:pPr lvl="0"/>
            <a:r>
              <a:rPr/>
              <a:t>redemption and use</a:t>
            </a:r>
          </a:p>
          <a:p>
            <a:pPr lvl="0"/>
            <a:r>
              <a:rPr/>
              <a:t>expected BLL response</a:t>
            </a:r>
          </a:p>
          <a:p>
            <a:pPr lvl="0"/>
            <a:r>
              <a:rPr/>
              <a:t>productivity and discounting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 Pilot Should Measure</a:t>
            </a:r>
          </a:p>
        </p:txBody>
      </p:sp>
      <p:pic>
        <p:nvPicPr>
          <p:cNvPr descr="images/pilot_measurement_loo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Pilot measurement and learning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Baseline product contamination and household use</a:t>
            </a:r>
          </a:p>
          <a:p>
            <a:pPr lvl="0"/>
            <a:r>
              <a:rPr/>
              <a:t>Voucher issuance and redemption</a:t>
            </a:r>
          </a:p>
          <a:p>
            <a:pPr lvl="0"/>
            <a:r>
              <a:rPr/>
              <a:t>Merchant stock and prices</a:t>
            </a:r>
          </a:p>
          <a:p>
            <a:pPr lvl="0"/>
            <a:r>
              <a:rPr/>
              <a:t>Sustained use by pregnant women and young children</a:t>
            </a:r>
          </a:p>
          <a:p>
            <a:pPr lvl="0"/>
            <a:r>
              <a:rPr/>
              <a:t>Residual use of unsafe products</a:t>
            </a:r>
          </a:p>
          <a:p>
            <a:pPr lvl="0"/>
            <a:r>
              <a:rPr/>
              <a:t>Measured child or maternal BLL response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Reframes lead control as a targeted human-capital investment.</a:t>
            </a:r>
          </a:p>
          <a:p>
            <a:pPr lvl="0"/>
            <a:r>
              <a:rPr/>
              <a:t>Connects environmental health, maternal-child health platforms and benefit-cost analysis.</a:t>
            </a:r>
          </a:p>
          <a:p>
            <a:pPr lvl="0"/>
            <a:r>
              <a:rPr/>
              <a:t>Makes assumptions transparent enough to challenge.</a:t>
            </a:r>
          </a:p>
          <a:p>
            <a:pPr lvl="0"/>
            <a:r>
              <a:rPr/>
              <a:t>Provides code and spreadsheet tools so local teams can decide whether substitution is attractive in their own setting.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Selected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Lanphear et al. 2005; Canfield et al. 2003; Jusko et al. 2008 on lead and cognition.</a:t>
            </a:r>
          </a:p>
          <a:p>
            <a:pPr lvl="0"/>
            <a:r>
              <a:rPr/>
              <a:t>Crawfurd et al. 2025 on lead and learning in developing countries.</a:t>
            </a:r>
          </a:p>
          <a:p>
            <a:pPr lvl="0"/>
            <a:r>
              <a:rPr/>
              <a:t>Ozawa et al. 2022; Grosse et al. 2002; Hanushek and Woessmann 2008 on cognition and earnings.</a:t>
            </a:r>
          </a:p>
          <a:p>
            <a:pPr lvl="0"/>
            <a:r>
              <a:rPr/>
              <a:t>Weidenhamer et al. 2014, 2023 and Sargsyan et al. 2024 on contaminated products.</a:t>
            </a:r>
          </a:p>
          <a:p>
            <a:pPr lvl="0"/>
            <a:r>
              <a:rPr/>
              <a:t>Larsen and Sanchez-Triana 2023 on global lead burden and costs.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Where would substitution be most attractive?</a:t>
            </a:r>
          </a:p>
          <a:p>
            <a:pPr lvl="0"/>
            <a:r>
              <a:rPr/>
              <a:t>What parameter would you most want to identify causally?</a:t>
            </a:r>
          </a:p>
          <a:p>
            <a:pPr lvl="0"/>
            <a:r>
              <a:rPr/>
              <a:t>Should the first pilot randomise vouchers, prices or information?</a:t>
            </a:r>
          </a:p>
          <a:p>
            <a:pPr lvl="0"/>
            <a:r>
              <a:rPr/>
              <a:t>How should we value cognition gains in largely informal labour markets?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Sentinel Firewall</dc:title>
  <dc:creator>David I. Levine</dc:creator>
  <cp:keywords/>
  <dcterms:created xsi:type="dcterms:W3CDTF">2026-04-21T17:02:14Z</dcterms:created>
  <dcterms:modified xsi:type="dcterms:W3CDTF">2026-04-21T17:02:14Z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Research talk for economists</vt:lpwstr>
  </property>
  <property fmtid="{D5CDD505-2E9C-101B-9397-08002B2CF9AE}" pid="3" name="subtitle">
    <vt:lpwstr>Safe-product substitution as a high-return lead exposure intervention</vt:lpwstr>
  </property>
</Properties>
</file>